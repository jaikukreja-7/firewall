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demonstration implements a four-zone policy model for a manufacturing scenario. It runs offline in a browser. Cisco configuration files accompany the model, but I do not claim they have been executed in Packet Tracer.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flat architecture makes it easier for a corporate compromise to reach critical systems. Segmentation adds checkpoints. Blocking Telnet and unauthorized outbound ports reduces exposure, but allowed HTTPS can still carry harmful traffic.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gateway separates Corporate, Factory OT, Administration and the simulated Internet. Corporate initiations to OT and Admin are denied. Hosts within a VLAN bypass gateway filtering, so this is not complete host isolation or a physical air gap.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 deny drops routed flows unless a rule permits them. PAT maps allowed outbound flows to one public address with distinct ports. It does not guarantee topology secrecy. Cisco established ACL rules inspect ACK or RST flags rather than tracking sessions.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can show the browser validation suite, PAT table, decision log, matching replies and rejected wrong-source replies. Automated tests also evaluate the limited syntax used by our Cisco ACLs. These are model and static analysis results, not observed IOS counters or encrypted application handshakes.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separate real SQLite demonstration now verifies read-only telemetry queries and rejected writes. A narrow reporting exception is modeled for Corporate host 192.168.10.60 to OT service 192.168.20.10 on TCP 8443. This is an explicit design assumption, not a running network service. Industrial inspection and hardware one-way gateways are future controls. The original Cisco execution requirement remains unfulfilled.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0"/>
        </a:solidFill>
        <a:effectLst/>
      </p:bgPr>
    </p:bg>
    <p:spTree>
      <p:nvGrpSpPr>
        <p:cNvPr id="1" name=""/>
        <p:cNvGrpSpPr/>
        <p:nvPr/>
      </p:nvGrpSpPr>
      <p:grpSpPr/>
      <p:sp>
        <p:nvSpPr>
          <p:cNvPr id="2" name="TextBox 1"/>
          <p:cNvSpPr txBox="1"/>
          <p:nvPr/>
        </p:nvSpPr>
        <p:spPr>
          <a:xfrm>
            <a:off x="731520" y="457200"/>
            <a:ext cx="10698480" cy="640080"/>
          </a:xfrm>
          <a:prstGeom prst="rect">
            <a:avLst/>
          </a:prstGeom>
          <a:noFill/>
        </p:spPr>
        <p:txBody>
          <a:bodyPr wrap="none">
            <a:spAutoFit/>
          </a:bodyPr>
          <a:lstStyle/>
          <a:p>
            <a:pPr>
              <a:defRPr sz="1400">
                <a:solidFill>
                  <a:srgbClr val="65DDC0"/>
                </a:solidFill>
              </a:defRPr>
            </a:pPr>
            <a:r>
              <a:t>NS-P02 / 01</a:t>
            </a:r>
          </a:p>
        </p:txBody>
      </p:sp>
      <p:sp>
        <p:nvSpPr>
          <p:cNvPr id="3" name="TextBox 2"/>
          <p:cNvSpPr txBox="1"/>
          <p:nvPr/>
        </p:nvSpPr>
        <p:spPr>
          <a:xfrm>
            <a:off x="731520" y="914400"/>
            <a:ext cx="10698480" cy="640080"/>
          </a:xfrm>
          <a:prstGeom prst="rect">
            <a:avLst/>
          </a:prstGeom>
          <a:noFill/>
        </p:spPr>
        <p:txBody>
          <a:bodyPr wrap="none">
            <a:spAutoFit/>
          </a:bodyPr>
          <a:lstStyle/>
          <a:p>
            <a:pPr>
              <a:defRPr sz="3200">
                <a:solidFill>
                  <a:srgbClr val="DBE6F2"/>
                </a:solidFill>
              </a:defRPr>
            </a:pPr>
            <a:r>
              <a:t>Firewall &amp; NAT Security Lab</a:t>
            </a:r>
          </a:p>
        </p:txBody>
      </p:sp>
      <p:sp>
        <p:nvSpPr>
          <p:cNvPr id="4" name="TextBox 3"/>
          <p:cNvSpPr txBox="1"/>
          <p:nvPr/>
        </p:nvSpPr>
        <p:spPr>
          <a:xfrm>
            <a:off x="731520" y="1645920"/>
            <a:ext cx="10698480" cy="640080"/>
          </a:xfrm>
          <a:prstGeom prst="rect">
            <a:avLst/>
          </a:prstGeom>
          <a:noFill/>
        </p:spPr>
        <p:txBody>
          <a:bodyPr wrap="none">
            <a:spAutoFit/>
          </a:bodyPr>
          <a:lstStyle/>
          <a:p>
            <a:pPr>
              <a:defRPr sz="1800">
                <a:solidFill>
                  <a:srgbClr val="A5B6CC"/>
                </a:solidFill>
              </a:defRPr>
            </a:pPr>
            <a:r>
              <a:t>NS-P02 | Manufacturing Company</a:t>
            </a:r>
          </a:p>
        </p:txBody>
      </p:sp>
      <p:sp>
        <p:nvSpPr>
          <p:cNvPr id="5" name="TextBox 4"/>
          <p:cNvSpPr txBox="1"/>
          <p:nvPr/>
        </p:nvSpPr>
        <p:spPr>
          <a:xfrm>
            <a:off x="731520" y="2560320"/>
            <a:ext cx="10698480" cy="3657600"/>
          </a:xfrm>
          <a:prstGeom prst="rect">
            <a:avLst/>
          </a:prstGeom>
          <a:noFill/>
        </p:spPr>
        <p:txBody>
          <a:bodyPr wrap="square">
            <a:spAutoFit/>
          </a:bodyPr>
          <a:lstStyle/>
          <a:p>
            <a:pPr>
              <a:spcAft>
                <a:spcPts val="2000"/>
              </a:spcAft>
              <a:defRPr sz="2200">
                <a:solidFill>
                  <a:srgbClr val="DBE6F2"/>
                </a:solidFill>
              </a:defRPr>
            </a:pPr>
            <a:r>
              <a:t>• Four-zone manufacturing security redesign</a:t>
            </a:r>
          </a:p>
          <a:p>
            <a:pPr>
              <a:spcAft>
                <a:spcPts val="2000"/>
              </a:spcAft>
              <a:defRPr sz="2200">
                <a:solidFill>
                  <a:srgbClr val="DBE6F2"/>
                </a:solidFill>
              </a:defRPr>
            </a:pPr>
            <a:r>
              <a:t>• Offline browser model with Cisco configuration build kit</a:t>
            </a:r>
          </a:p>
          <a:p>
            <a:pPr>
              <a:spcAft>
                <a:spcPts val="2000"/>
              </a:spcAft>
              <a:defRPr sz="2200">
                <a:solidFill>
                  <a:srgbClr val="DBE6F2"/>
                </a:solidFill>
              </a:defRPr>
            </a:pPr>
            <a:r>
              <a:t>• Validated policy behavior; Cisco topology execution remains unrun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0"/>
        </a:solidFill>
        <a:effectLst/>
      </p:bgPr>
    </p:bg>
    <p:spTree>
      <p:nvGrpSpPr>
        <p:cNvPr id="1" name=""/>
        <p:cNvGrpSpPr/>
        <p:nvPr/>
      </p:nvGrpSpPr>
      <p:grpSpPr/>
      <p:sp>
        <p:nvSpPr>
          <p:cNvPr id="2" name="TextBox 1"/>
          <p:cNvSpPr txBox="1"/>
          <p:nvPr/>
        </p:nvSpPr>
        <p:spPr>
          <a:xfrm>
            <a:off x="731520" y="457200"/>
            <a:ext cx="10698480" cy="640080"/>
          </a:xfrm>
          <a:prstGeom prst="rect">
            <a:avLst/>
          </a:prstGeom>
          <a:noFill/>
        </p:spPr>
        <p:txBody>
          <a:bodyPr wrap="none">
            <a:spAutoFit/>
          </a:bodyPr>
          <a:lstStyle/>
          <a:p>
            <a:pPr>
              <a:defRPr sz="1400">
                <a:solidFill>
                  <a:srgbClr val="65DDC0"/>
                </a:solidFill>
              </a:defRPr>
            </a:pPr>
            <a:r>
              <a:t>NS-P02 / 02</a:t>
            </a:r>
          </a:p>
        </p:txBody>
      </p:sp>
      <p:sp>
        <p:nvSpPr>
          <p:cNvPr id="3" name="TextBox 2"/>
          <p:cNvSpPr txBox="1"/>
          <p:nvPr/>
        </p:nvSpPr>
        <p:spPr>
          <a:xfrm>
            <a:off x="731520" y="914400"/>
            <a:ext cx="10698480" cy="640080"/>
          </a:xfrm>
          <a:prstGeom prst="rect">
            <a:avLst/>
          </a:prstGeom>
          <a:noFill/>
        </p:spPr>
        <p:txBody>
          <a:bodyPr wrap="none">
            <a:spAutoFit/>
          </a:bodyPr>
          <a:lstStyle/>
          <a:p>
            <a:pPr>
              <a:defRPr sz="3200">
                <a:solidFill>
                  <a:srgbClr val="DBE6F2"/>
                </a:solidFill>
              </a:defRPr>
            </a:pPr>
            <a:r>
              <a:t>Threat model</a:t>
            </a:r>
          </a:p>
        </p:txBody>
      </p:sp>
      <p:sp>
        <p:nvSpPr>
          <p:cNvPr id="4" name="TextBox 3"/>
          <p:cNvSpPr txBox="1"/>
          <p:nvPr/>
        </p:nvSpPr>
        <p:spPr>
          <a:xfrm>
            <a:off x="731520" y="1645920"/>
            <a:ext cx="10698480" cy="640080"/>
          </a:xfrm>
          <a:prstGeom prst="rect">
            <a:avLst/>
          </a:prstGeom>
          <a:noFill/>
        </p:spPr>
        <p:txBody>
          <a:bodyPr wrap="none">
            <a:spAutoFit/>
          </a:bodyPr>
          <a:lstStyle/>
          <a:p>
            <a:pPr>
              <a:defRPr sz="1800">
                <a:solidFill>
                  <a:srgbClr val="A5B6CC"/>
                </a:solidFill>
              </a:defRPr>
            </a:pPr>
            <a:r>
              <a:t>Why a flat IT/OT network is risky</a:t>
            </a:r>
          </a:p>
        </p:txBody>
      </p:sp>
      <p:sp>
        <p:nvSpPr>
          <p:cNvPr id="5" name="TextBox 4"/>
          <p:cNvSpPr txBox="1"/>
          <p:nvPr/>
        </p:nvSpPr>
        <p:spPr>
          <a:xfrm>
            <a:off x="731520" y="2560320"/>
            <a:ext cx="10698480" cy="3657600"/>
          </a:xfrm>
          <a:prstGeom prst="rect">
            <a:avLst/>
          </a:prstGeom>
          <a:noFill/>
        </p:spPr>
        <p:txBody>
          <a:bodyPr wrap="square">
            <a:spAutoFit/>
          </a:bodyPr>
          <a:lstStyle/>
          <a:p>
            <a:pPr>
              <a:spcAft>
                <a:spcPts val="2000"/>
              </a:spcAft>
              <a:defRPr sz="2200">
                <a:solidFill>
                  <a:srgbClr val="DBE6F2"/>
                </a:solidFill>
              </a:defRPr>
            </a:pPr>
            <a:r>
              <a:t>• Compromised corporate hosts can attempt lateral access to OT</a:t>
            </a:r>
          </a:p>
          <a:p>
            <a:pPr>
              <a:spcAft>
                <a:spcPts val="2000"/>
              </a:spcAft>
              <a:defRPr sz="2200">
                <a:solidFill>
                  <a:srgbClr val="DBE6F2"/>
                </a:solidFill>
              </a:defRPr>
            </a:pPr>
            <a:r>
              <a:t>• Telnet exposes credentials in cleartext</a:t>
            </a:r>
          </a:p>
          <a:p>
            <a:pPr>
              <a:spcAft>
                <a:spcPts val="2000"/>
              </a:spcAft>
              <a:defRPr sz="2200">
                <a:solidFill>
                  <a:srgbClr val="DBE6F2"/>
                </a:solidFill>
              </a:defRPr>
            </a:pPr>
            <a:r>
              <a:t>• Unrestricted outbound flows can enable exfiltration</a:t>
            </a:r>
          </a:p>
          <a:p>
            <a:pPr>
              <a:spcAft>
                <a:spcPts val="2000"/>
              </a:spcAft>
              <a:defRPr sz="2200">
                <a:solidFill>
                  <a:srgbClr val="DBE6F2"/>
                </a:solidFill>
              </a:defRPr>
            </a:pPr>
            <a:r>
              <a:t>• Permitted HTTPS still needs endpoint and application controls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0"/>
        </a:solidFill>
        <a:effectLst/>
      </p:bgPr>
    </p:bg>
    <p:spTree>
      <p:nvGrpSpPr>
        <p:cNvPr id="1" name=""/>
        <p:cNvGrpSpPr/>
        <p:nvPr/>
      </p:nvGrpSpPr>
      <p:grpSpPr/>
      <p:sp>
        <p:nvSpPr>
          <p:cNvPr id="2" name="TextBox 1"/>
          <p:cNvSpPr txBox="1"/>
          <p:nvPr/>
        </p:nvSpPr>
        <p:spPr>
          <a:xfrm>
            <a:off x="731520" y="457200"/>
            <a:ext cx="10698480" cy="640080"/>
          </a:xfrm>
          <a:prstGeom prst="rect">
            <a:avLst/>
          </a:prstGeom>
          <a:noFill/>
        </p:spPr>
        <p:txBody>
          <a:bodyPr wrap="none">
            <a:spAutoFit/>
          </a:bodyPr>
          <a:lstStyle/>
          <a:p>
            <a:pPr>
              <a:defRPr sz="1400">
                <a:solidFill>
                  <a:srgbClr val="65DDC0"/>
                </a:solidFill>
              </a:defRPr>
            </a:pPr>
            <a:r>
              <a:t>NS-P02 / 03</a:t>
            </a:r>
          </a:p>
        </p:txBody>
      </p:sp>
      <p:sp>
        <p:nvSpPr>
          <p:cNvPr id="3" name="TextBox 2"/>
          <p:cNvSpPr txBox="1"/>
          <p:nvPr/>
        </p:nvSpPr>
        <p:spPr>
          <a:xfrm>
            <a:off x="731520" y="914400"/>
            <a:ext cx="10698480" cy="640080"/>
          </a:xfrm>
          <a:prstGeom prst="rect">
            <a:avLst/>
          </a:prstGeom>
          <a:noFill/>
        </p:spPr>
        <p:txBody>
          <a:bodyPr wrap="none">
            <a:spAutoFit/>
          </a:bodyPr>
          <a:lstStyle/>
          <a:p>
            <a:pPr>
              <a:defRPr sz="3200">
                <a:solidFill>
                  <a:srgbClr val="DBE6F2"/>
                </a:solidFill>
              </a:defRPr>
            </a:pPr>
            <a:r>
              <a:t>Four security zones</a:t>
            </a:r>
          </a:p>
        </p:txBody>
      </p:sp>
      <p:sp>
        <p:nvSpPr>
          <p:cNvPr id="4" name="TextBox 3"/>
          <p:cNvSpPr txBox="1"/>
          <p:nvPr/>
        </p:nvSpPr>
        <p:spPr>
          <a:xfrm>
            <a:off x="731520" y="1645920"/>
            <a:ext cx="10698480" cy="640080"/>
          </a:xfrm>
          <a:prstGeom prst="rect">
            <a:avLst/>
          </a:prstGeom>
          <a:noFill/>
        </p:spPr>
        <p:txBody>
          <a:bodyPr wrap="none">
            <a:spAutoFit/>
          </a:bodyPr>
          <a:lstStyle/>
          <a:p>
            <a:pPr>
              <a:defRPr sz="1800">
                <a:solidFill>
                  <a:srgbClr val="A5B6CC"/>
                </a:solidFill>
              </a:defRPr>
            </a:pPr>
            <a:r>
              <a:t>VLANs and routed security boundaries</a:t>
            </a:r>
          </a:p>
        </p:txBody>
      </p:sp>
      <p:sp>
        <p:nvSpPr>
          <p:cNvPr id="5" name="TextBox 4"/>
          <p:cNvSpPr txBox="1"/>
          <p:nvPr/>
        </p:nvSpPr>
        <p:spPr>
          <a:xfrm>
            <a:off x="731520" y="2560320"/>
            <a:ext cx="10698480" cy="3657600"/>
          </a:xfrm>
          <a:prstGeom prst="rect">
            <a:avLst/>
          </a:prstGeom>
          <a:noFill/>
        </p:spPr>
        <p:txBody>
          <a:bodyPr wrap="square">
            <a:spAutoFit/>
          </a:bodyPr>
          <a:lstStyle/>
          <a:p>
            <a:pPr>
              <a:spcAft>
                <a:spcPts val="2000"/>
              </a:spcAft>
              <a:defRPr sz="2200">
                <a:solidFill>
                  <a:srgbClr val="DBE6F2"/>
                </a:solidFill>
              </a:defRPr>
            </a:pPr>
            <a:r>
              <a:t>• Internet: gateway 203.0.113.2; lab web 198.51.100.10</a:t>
            </a:r>
          </a:p>
          <a:p>
            <a:pPr>
              <a:spcAft>
                <a:spcPts val="2000"/>
              </a:spcAft>
              <a:defRPr sz="2200">
                <a:solidFill>
                  <a:srgbClr val="DBE6F2"/>
                </a:solidFill>
              </a:defRPr>
            </a:pPr>
            <a:r>
              <a:t>• Corporate VLAN 10: 192.168.10.0/24</a:t>
            </a:r>
          </a:p>
          <a:p>
            <a:pPr>
              <a:spcAft>
                <a:spcPts val="2000"/>
              </a:spcAft>
              <a:defRPr sz="2200">
                <a:solidFill>
                  <a:srgbClr val="DBE6F2"/>
                </a:solidFill>
              </a:defRPr>
            </a:pPr>
            <a:r>
              <a:t>• Factory OT VLAN 20: 192.168.20.0/24</a:t>
            </a:r>
          </a:p>
          <a:p>
            <a:pPr>
              <a:spcAft>
                <a:spcPts val="2000"/>
              </a:spcAft>
              <a:defRPr sz="2200">
                <a:solidFill>
                  <a:srgbClr val="DBE6F2"/>
                </a:solidFill>
              </a:defRPr>
            </a:pPr>
            <a:r>
              <a:t>• Admin VLAN 30: 192.168.30.0/24; jump host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0"/>
        </a:solidFill>
        <a:effectLst/>
      </p:bgPr>
    </p:bg>
    <p:spTree>
      <p:nvGrpSpPr>
        <p:cNvPr id="1" name=""/>
        <p:cNvGrpSpPr/>
        <p:nvPr/>
      </p:nvGrpSpPr>
      <p:grpSpPr/>
      <p:sp>
        <p:nvSpPr>
          <p:cNvPr id="2" name="TextBox 1"/>
          <p:cNvSpPr txBox="1"/>
          <p:nvPr/>
        </p:nvSpPr>
        <p:spPr>
          <a:xfrm>
            <a:off x="731520" y="457200"/>
            <a:ext cx="10698480" cy="640080"/>
          </a:xfrm>
          <a:prstGeom prst="rect">
            <a:avLst/>
          </a:prstGeom>
          <a:noFill/>
        </p:spPr>
        <p:txBody>
          <a:bodyPr wrap="none">
            <a:spAutoFit/>
          </a:bodyPr>
          <a:lstStyle/>
          <a:p>
            <a:pPr>
              <a:defRPr sz="1400">
                <a:solidFill>
                  <a:srgbClr val="65DDC0"/>
                </a:solidFill>
              </a:defRPr>
            </a:pPr>
            <a:r>
              <a:t>NS-P02 / 04</a:t>
            </a:r>
          </a:p>
        </p:txBody>
      </p:sp>
      <p:sp>
        <p:nvSpPr>
          <p:cNvPr id="3" name="TextBox 2"/>
          <p:cNvSpPr txBox="1"/>
          <p:nvPr/>
        </p:nvSpPr>
        <p:spPr>
          <a:xfrm>
            <a:off x="731520" y="914400"/>
            <a:ext cx="10698480" cy="640080"/>
          </a:xfrm>
          <a:prstGeom prst="rect">
            <a:avLst/>
          </a:prstGeom>
          <a:noFill/>
        </p:spPr>
        <p:txBody>
          <a:bodyPr wrap="none">
            <a:spAutoFit/>
          </a:bodyPr>
          <a:lstStyle/>
          <a:p>
            <a:pPr>
              <a:defRPr sz="3200">
                <a:solidFill>
                  <a:srgbClr val="DBE6F2"/>
                </a:solidFill>
              </a:defRPr>
            </a:pPr>
            <a:r>
              <a:t>Firewall and PAT</a:t>
            </a:r>
          </a:p>
        </p:txBody>
      </p:sp>
      <p:sp>
        <p:nvSpPr>
          <p:cNvPr id="4" name="TextBox 3"/>
          <p:cNvSpPr txBox="1"/>
          <p:nvPr/>
        </p:nvSpPr>
        <p:spPr>
          <a:xfrm>
            <a:off x="731520" y="1645920"/>
            <a:ext cx="10698480" cy="640080"/>
          </a:xfrm>
          <a:prstGeom prst="rect">
            <a:avLst/>
          </a:prstGeom>
          <a:noFill/>
        </p:spPr>
        <p:txBody>
          <a:bodyPr wrap="none">
            <a:spAutoFit/>
          </a:bodyPr>
          <a:lstStyle/>
          <a:p>
            <a:pPr>
              <a:defRPr sz="1800">
                <a:solidFill>
                  <a:srgbClr val="A5B6CC"/>
                </a:solidFill>
              </a:defRPr>
            </a:pPr>
            <a:r>
              <a:t>Explicit permits, followed by default deny</a:t>
            </a:r>
          </a:p>
        </p:txBody>
      </p:sp>
      <p:sp>
        <p:nvSpPr>
          <p:cNvPr id="5" name="TextBox 4"/>
          <p:cNvSpPr txBox="1"/>
          <p:nvPr/>
        </p:nvSpPr>
        <p:spPr>
          <a:xfrm>
            <a:off x="731520" y="2560320"/>
            <a:ext cx="10698480" cy="3657600"/>
          </a:xfrm>
          <a:prstGeom prst="rect">
            <a:avLst/>
          </a:prstGeom>
          <a:noFill/>
        </p:spPr>
        <p:txBody>
          <a:bodyPr wrap="square">
            <a:spAutoFit/>
          </a:bodyPr>
          <a:lstStyle/>
          <a:p>
            <a:pPr>
              <a:spcAft>
                <a:spcPts val="2000"/>
              </a:spcAft>
              <a:defRPr sz="2200">
                <a:solidFill>
                  <a:srgbClr val="DBE6F2"/>
                </a:solidFill>
              </a:defRPr>
            </a:pPr>
            <a:r>
              <a:t>• Corporate/Admin: TCP 443 and DNS to 8.8.8.8</a:t>
            </a:r>
          </a:p>
          <a:p>
            <a:pPr>
              <a:spcAft>
                <a:spcPts val="2000"/>
              </a:spcAft>
              <a:defRPr sz="2200">
                <a:solidFill>
                  <a:srgbClr val="DBE6F2"/>
                </a:solidFill>
              </a:defRPr>
            </a:pPr>
            <a:r>
              <a:t>• Jump host only: internal SSH and SCADA TCP 3389</a:t>
            </a:r>
          </a:p>
          <a:p>
            <a:pPr>
              <a:spcAft>
                <a:spcPts val="2000"/>
              </a:spcAft>
              <a:defRPr sz="2200">
                <a:solidFill>
                  <a:srgbClr val="DBE6F2"/>
                </a:solidFill>
              </a:defRPr>
            </a:pPr>
            <a:r>
              <a:t>• OT: no initiated cross-zone traffic and no PAT</a:t>
            </a:r>
          </a:p>
          <a:p>
            <a:pPr>
              <a:spcAft>
                <a:spcPts val="2000"/>
              </a:spcAft>
              <a:defRPr sz="2200">
                <a:solidFill>
                  <a:srgbClr val="DBE6F2"/>
                </a:solidFill>
              </a:defRPr>
            </a:pPr>
            <a:r>
              <a:t>• Corporate/Admin share public address through PAT</a:t>
            </a:r>
          </a:p>
          <a:p>
            <a:pPr>
              <a:spcAft>
                <a:spcPts val="2000"/>
              </a:spcAft>
              <a:defRPr sz="2200">
                <a:solidFill>
                  <a:srgbClr val="DBE6F2"/>
                </a:solidFill>
              </a:defRPr>
            </a:pPr>
            <a:r>
              <a:t>• Browser replies match tuples; Cisco ACLs are stateless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220"/>
        </a:solidFill>
        <a:effectLst/>
      </p:bgPr>
    </p:bg>
    <p:spTree>
      <p:nvGrpSpPr>
        <p:cNvPr id="1" name=""/>
        <p:cNvGrpSpPr/>
        <p:nvPr/>
      </p:nvGrpSpPr>
      <p:grpSpPr/>
      <p:sp>
        <p:nvSpPr>
          <p:cNvPr id="2" name="TextBox 1"/>
          <p:cNvSpPr txBox="1"/>
          <p:nvPr/>
        </p:nvSpPr>
        <p:spPr>
          <a:xfrm>
            <a:off x="731520" y="457200"/>
            <a:ext cx="10698480" cy="640080"/>
          </a:xfrm>
          <a:prstGeom prst="rect">
            <a:avLst/>
          </a:prstGeom>
          <a:noFill/>
        </p:spPr>
        <p:txBody>
          <a:bodyPr wrap="none">
            <a:spAutoFit/>
          </a:bodyPr>
          <a:lstStyle/>
          <a:p>
            <a:pPr>
              <a:defRPr sz="1400">
                <a:solidFill>
                  <a:srgbClr val="65DDC0"/>
                </a:solidFill>
              </a:defRPr>
            </a:pPr>
            <a:r>
              <a:t>NS-P02 / 05</a:t>
            </a:r>
          </a:p>
        </p:txBody>
      </p:sp>
      <p:sp>
        <p:nvSpPr>
          <p:cNvPr id="3" name="TextBox 2"/>
          <p:cNvSpPr txBox="1"/>
          <p:nvPr/>
        </p:nvSpPr>
        <p:spPr>
          <a:xfrm>
            <a:off x="731520" y="914400"/>
            <a:ext cx="10698480" cy="640080"/>
          </a:xfrm>
          <a:prstGeom prst="rect">
            <a:avLst/>
          </a:prstGeom>
          <a:noFill/>
        </p:spPr>
        <p:txBody>
          <a:bodyPr wrap="none">
            <a:spAutoFit/>
          </a:bodyPr>
          <a:lstStyle/>
          <a:p>
            <a:pPr>
              <a:defRPr sz="3200">
                <a:solidFill>
                  <a:srgbClr val="DBE6F2"/>
                </a:solidFill>
              </a:defRPr>
            </a:pPr>
            <a:r>
              <a:t>Verification results</a:t>
            </a:r>
          </a:p>
        </p:txBody>
      </p:sp>
      <p:sp>
        <p:nvSpPr>
          <p:cNvPr id="4" name="TextBox 3"/>
          <p:cNvSpPr txBox="1"/>
          <p:nvPr/>
        </p:nvSpPr>
        <p:spPr>
          <a:xfrm>
            <a:off x="731520" y="1645920"/>
            <a:ext cx="10698480" cy="640080"/>
          </a:xfrm>
          <a:prstGeom prst="rect">
            <a:avLst/>
          </a:prstGeom>
          <a:noFill/>
        </p:spPr>
        <p:txBody>
          <a:bodyPr wrap="none">
            <a:spAutoFit/>
          </a:bodyPr>
          <a:lstStyle/>
          <a:p>
            <a:pPr>
              <a:defRPr sz="1800">
                <a:solidFill>
                  <a:srgbClr val="A5B6CC"/>
                </a:solidFill>
              </a:defRPr>
            </a:pPr>
            <a:r>
              <a:t>Measured checks, with evidence boundaries</a:t>
            </a:r>
          </a:p>
        </p:txBody>
      </p:sp>
      <p:sp>
        <p:nvSpPr>
          <p:cNvPr id="5" name="TextBox 4"/>
          <p:cNvSpPr txBox="1"/>
          <p:nvPr/>
        </p:nvSpPr>
        <p:spPr>
          <a:xfrm>
            <a:off x="731520" y="2560320"/>
            <a:ext cx="10698480" cy="3657600"/>
          </a:xfrm>
          <a:prstGeom prst="rect">
            <a:avLst/>
          </a:prstGeom>
          <a:noFill/>
        </p:spPr>
        <p:txBody>
          <a:bodyPr wrap="square">
            <a:spAutoFit/>
          </a:bodyPr>
          <a:lstStyle/>
          <a:p>
            <a:pPr>
              <a:spcAft>
                <a:spcPts val="2000"/>
              </a:spcAft>
              <a:defRPr sz="2200">
                <a:solidFill>
                  <a:srgbClr val="DBE6F2"/>
                </a:solidFill>
              </a:defRPr>
            </a:pPr>
            <a:r>
              <a:t>• 20 browser checks passed; desktop/mobile controls verified</a:t>
            </a:r>
          </a:p>
          <a:p>
            <a:pPr>
              <a:spcAft>
                <a:spcPts val="2000"/>
              </a:spcAft>
              <a:defRPr sz="2200">
                <a:solidFill>
                  <a:srgbClr val="DBE6F2"/>
                </a:solidFill>
              </a:defRPr>
            </a:pPr>
            <a:r>
              <a:t>• 16 Python test methods passed</a:t>
            </a:r>
          </a:p>
          <a:p>
            <a:pPr>
              <a:spcAft>
                <a:spcPts val="2000"/>
              </a:spcAft>
              <a:defRPr sz="2200">
                <a:solidFill>
                  <a:srgbClr val="DBE6F2"/>
                </a:solidFill>
              </a:defRPr>
            </a:pPr>
            <a:r>
              <a:t>• 5,334 Corporate boundary cases and 253 admin-source cases checked</a:t>
            </a:r>
          </a:p>
          <a:p>
            <a:pPr>
              <a:spcAft>
                <a:spcPts val="2000"/>
              </a:spcAft>
              <a:defRPr sz="2200">
                <a:solidFill>
                  <a:srgbClr val="DBE6F2"/>
                </a:solidFill>
              </a:defRPr>
            </a:pPr>
            <a:r>
              <a:t>• PAT reuse, port uniqueness, allowed replies and denied pivots verified</a:t>
            </a:r>
          </a:p>
          <a:p>
            <a:pPr>
              <a:spcAft>
                <a:spcPts val="2000"/>
              </a:spcAft>
              <a:defRPr sz="2200">
                <a:solidFill>
                  <a:srgbClr val="DBE6F2"/>
                </a:solidFill>
              </a:defRPr>
            </a:pPr>
            <a:r>
              <a:t>• No real TLS/SSH/RDP or Packet Tracer traffic was tested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220"/>
        </a:solidFill>
        <a:effectLst/>
      </p:bgPr>
    </p:bg>
    <p:spTree>
      <p:nvGrpSpPr>
        <p:cNvPr id="1" name=""/>
        <p:cNvGrpSpPr/>
        <p:nvPr/>
      </p:nvGrpSpPr>
      <p:grpSpPr/>
      <p:sp>
        <p:nvSpPr>
          <p:cNvPr id="2" name="TextBox 1"/>
          <p:cNvSpPr txBox="1"/>
          <p:nvPr/>
        </p:nvSpPr>
        <p:spPr>
          <a:xfrm>
            <a:off x="731520" y="457200"/>
            <a:ext cx="10698480" cy="640080"/>
          </a:xfrm>
          <a:prstGeom prst="rect">
            <a:avLst/>
          </a:prstGeom>
          <a:noFill/>
        </p:spPr>
        <p:txBody>
          <a:bodyPr wrap="none">
            <a:spAutoFit/>
          </a:bodyPr>
          <a:lstStyle/>
          <a:p>
            <a:pPr>
              <a:defRPr sz="1400">
                <a:solidFill>
                  <a:srgbClr val="65DDC0"/>
                </a:solidFill>
              </a:defRPr>
            </a:pPr>
            <a:r>
              <a:t>NS-P02 / 06</a:t>
            </a:r>
          </a:p>
        </p:txBody>
      </p:sp>
      <p:sp>
        <p:nvSpPr>
          <p:cNvPr id="3" name="TextBox 2"/>
          <p:cNvSpPr txBox="1"/>
          <p:nvPr/>
        </p:nvSpPr>
        <p:spPr>
          <a:xfrm>
            <a:off x="731520" y="914400"/>
            <a:ext cx="10698480" cy="640080"/>
          </a:xfrm>
          <a:prstGeom prst="rect">
            <a:avLst/>
          </a:prstGeom>
          <a:noFill/>
        </p:spPr>
        <p:txBody>
          <a:bodyPr wrap="none">
            <a:spAutoFit/>
          </a:bodyPr>
          <a:lstStyle/>
          <a:p>
            <a:pPr>
              <a:defRPr sz="3200">
                <a:solidFill>
                  <a:srgbClr val="DBE6F2"/>
                </a:solidFill>
              </a:defRPr>
            </a:pPr>
            <a:r>
              <a:t>Limits and recommendations</a:t>
            </a:r>
          </a:p>
        </p:txBody>
      </p:sp>
      <p:sp>
        <p:nvSpPr>
          <p:cNvPr id="4" name="TextBox 3"/>
          <p:cNvSpPr txBox="1"/>
          <p:nvPr/>
        </p:nvSpPr>
        <p:spPr>
          <a:xfrm>
            <a:off x="731520" y="1645920"/>
            <a:ext cx="10698480" cy="640080"/>
          </a:xfrm>
          <a:prstGeom prst="rect">
            <a:avLst/>
          </a:prstGeom>
          <a:noFill/>
        </p:spPr>
        <p:txBody>
          <a:bodyPr wrap="none">
            <a:spAutoFit/>
          </a:bodyPr>
          <a:lstStyle/>
          <a:p>
            <a:pPr>
              <a:defRPr sz="1800">
                <a:solidFill>
                  <a:srgbClr val="A5B6CC"/>
                </a:solidFill>
              </a:defRPr>
            </a:pPr>
            <a:r>
              <a:t>What remains outside this implementation</a:t>
            </a:r>
          </a:p>
        </p:txBody>
      </p:sp>
      <p:sp>
        <p:nvSpPr>
          <p:cNvPr id="5" name="TextBox 4"/>
          <p:cNvSpPr txBox="1"/>
          <p:nvPr/>
        </p:nvSpPr>
        <p:spPr>
          <a:xfrm>
            <a:off x="731520" y="2560320"/>
            <a:ext cx="10698480" cy="3657600"/>
          </a:xfrm>
          <a:prstGeom prst="rect">
            <a:avLst/>
          </a:prstGeom>
          <a:noFill/>
        </p:spPr>
        <p:txBody>
          <a:bodyPr wrap="square">
            <a:spAutoFit/>
          </a:bodyPr>
          <a:lstStyle/>
          <a:p>
            <a:pPr>
              <a:spcAft>
                <a:spcPts val="2000"/>
              </a:spcAft>
              <a:defRPr sz="2200">
                <a:solidFill>
                  <a:srgbClr val="DBE6F2"/>
                </a:solidFill>
              </a:defRPr>
            </a:pPr>
            <a:r>
              <a:t>• Local read-only SQLite demo verified; network service remains unrun</a:t>
            </a:r>
          </a:p>
          <a:p>
            <a:pPr>
              <a:spcAft>
                <a:spcPts val="2000"/>
              </a:spcAft>
              <a:defRPr sz="2200">
                <a:solidFill>
                  <a:srgbClr val="DBE6F2"/>
                </a:solidFill>
              </a:defRPr>
            </a:pPr>
            <a:r>
              <a:t>• Full TCP state, expiration and industrial DPI are not implemented</a:t>
            </a:r>
          </a:p>
          <a:p>
            <a:pPr>
              <a:spcAft>
                <a:spcPts val="2000"/>
              </a:spcAft>
              <a:defRPr sz="2200">
                <a:solidFill>
                  <a:srgbClr val="DBE6F2"/>
                </a:solidFill>
              </a:defRPr>
            </a:pPr>
            <a:r>
              <a:t>• Physical USB threats and same-VLAN access remain</a:t>
            </a:r>
          </a:p>
          <a:p>
            <a:pPr>
              <a:spcAft>
                <a:spcPts val="2000"/>
              </a:spcAft>
              <a:defRPr sz="2200">
                <a:solidFill>
                  <a:srgbClr val="DBE6F2"/>
                </a:solidFill>
              </a:defRPr>
            </a:pPr>
            <a:r>
              <a:t>• Production: endpoint hardening, industrial NGFW and data diodes</a:t>
            </a:r>
          </a:p>
          <a:p>
            <a:pPr>
              <a:spcAft>
                <a:spcPts val="2000"/>
              </a:spcAft>
              <a:defRPr sz="2200">
                <a:solidFill>
                  <a:srgbClr val="DBE6F2"/>
                </a:solidFill>
              </a:defRPr>
            </a:pPr>
            <a:r>
              <a:t>• Packet Tracer is optional for this demo but required for original Cisco validation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